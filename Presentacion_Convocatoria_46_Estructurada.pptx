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tección_de_anomalías_sísmicas_con_inteligencia_arti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58000"/>
            <a:ext cx="12191695" cy="180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5238000"/>
            <a:ext cx="11471695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CONVOCATORIA 46 COLOMBIA INTELIGENTE</a:t>
            </a:r>
            <a:br/>
            <a:r>
              <a:t>INFRAESTRUCTURA PARA EL DESARROLLO DE LA INTELIGENCIA ARTIFICIAL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1. DATOS GENERALES Y FECHAS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260000"/>
            <a:ext cx="8064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  <a:r>
              <a:t>Fechas Relevantes: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Apertura: Martes 14 de octubre de 2025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Cierre: Viernes 14 de noviembre de 2025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Resultados Preliminares: Lunes 29 de diciembre de 2025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Resultados Definitivos: Lunes 29 de diciembre de 2025</a:t>
            </a: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  <a:r>
              <a:t>Nota: Los plazos son improrrogables según términos de referencia.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2. OBJETIVO GENERAL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260000"/>
            <a:ext cx="8064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  <a:r>
              <a:t>Propósito:</a:t>
            </a: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  <a:r>
              <a:t>Impulsar la infraestructura, el desarrollo científico y tecnológico en inteligencia artificial.</a:t>
            </a: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  <a:r>
              <a:t>Elementos Clave: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Creación y consolidación de capacidades nacionales avanzadas.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Habilitar la investigación, el desarrollo y la innovación.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Fortalecer la soberanía tecnológica del país.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Posicionar al país como referente regional en 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3. DIRIGIDO A (ALIANZA ESTRATÉGICA)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260000"/>
            <a:ext cx="8064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Composición Mínima de la Alianza: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Al menos UN (1) actor del SNCTI reconocido.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Al menos DOS (2) entidades territoriales (1 Gobernación + 1 Alcaldía).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Al menos UNA (1) Empresa Nacional.</a:t>
            </a: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Requisitos de Desempeño: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Grupo de Investigación A1 o A (con líneas en IA).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El proponente debe acreditar adecuado desempeño según medición DNP.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Valor mínimo de contrapartida: 10% de recursos solicitados.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3. EXPERIENCIA REQUERIDA (ÚLTIMOS 10 AÑOS)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260000"/>
            <a:ext cx="8064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Total Proyectos Requeridos: 5 Proyectos CTeI ejecutados/en ejecución</a:t>
            </a: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Distribución Temática: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Mínimo 3 proyectos en:</a:t>
            </a:r>
          </a:p>
          <a:p>
            <a:pPr lvl="2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- Inteligencia Artificial / Modelos de Lenguaje</a:t>
            </a:r>
          </a:p>
          <a:p>
            <a:pPr lvl="2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- Ciencia de Datos / Supercómputo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Mínimo 2 proyectos en:</a:t>
            </a:r>
          </a:p>
          <a:p>
            <a:pPr lvl="2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- Implementación, construcción o desarrollo de infraestructura científica/tecnológica.</a:t>
            </a: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Notas Adicionales: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Se permite participación de entidades internacionales.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Roles definidos: Ejecutor vs Aliados.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Restricción: Máximo 1 proyecto presentado por entidad.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4. DEMANDAS TERRITORIALES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260000"/>
            <a:ext cx="8064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  <a:r>
              <a:t>Enfoque Regional: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Las propuestas deben atender necesidades regionales específicas.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Consultar Anexo 4: Demandas Territoriales Bienio 2025-2026.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Se requiere articulación con los CODECTI departamentales.</a:t>
            </a: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  <a:r>
              <a:t>Requisito de Cobertura: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El proyecto debe cubrir al menos una demanda por cada región del SGR.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5. LÍNEAS TEMÁTICAS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440000"/>
          <a:ext cx="1008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4320000"/>
                <a:gridCol w="50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Línea Temática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Enfoque Principal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Infraestructura tecnológica y científica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Hardware, procesamiento, almacenamiento y redes.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Desarrollo de modelos avanzados de IA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LLMs, Modelos fundacionales para sectores estratégicos.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Formación de talento humano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Capacitación especializada, atracción de expertos (PhD).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Propiedad intelectual y transferencia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Patentes, spin-offs, licenciamiento de tecnología.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Articulación entre actores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Conexión efectiva SNCTI + Sector Productivo + Estado.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6. ALCANCE DEL PROYECTO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260000"/>
            <a:ext cx="8064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Componentes Obligatorios:</a:t>
            </a: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✅ Infraestructura tecnológica avanzada (HPC, Data Centers).</a:t>
            </a: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✅ Desarrollo de modelos de IA de gran escala.</a:t>
            </a: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✅ Fortalecimiento del talento humano (Becas, Estancias).</a:t>
            </a: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✅ Innovación y transferencia tecnológica.</a:t>
            </a: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✅ Articulación interinstitucional.</a:t>
            </a: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Cobertura de Demandas: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Mínimo 6 demandas territoriales atendidas.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Distribución: Al menos 1 demanda por cada región SGR.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7. PRODUCTOS E INDICADORES DE CTEI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260000"/>
            <a:ext cx="8064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1">
                <a:solidFill>
                  <a:srgbClr val="2A2A2A"/>
                </a:solidFill>
              </a:defRPr>
            </a:pPr>
            <a:r>
              <a:t>Generación de Nuevo Conocimiento:</a:t>
            </a:r>
          </a:p>
          <a:p>
            <a:pPr lvl="1">
              <a:spcAft>
                <a:spcPts val="600"/>
              </a:spcAft>
              <a:defRPr sz="1600">
                <a:solidFill>
                  <a:srgbClr val="2A2A2A"/>
                </a:solidFill>
              </a:defRPr>
            </a:pPr>
            <a:r>
              <a:t>Cód 3906012: Documentos de investigación (Artículos A1, A2).</a:t>
            </a:r>
          </a:p>
          <a:p>
            <a:pPr lvl="1">
              <a:spcAft>
                <a:spcPts val="600"/>
              </a:spcAft>
              <a:defRPr sz="1600">
                <a:solidFill>
                  <a:srgbClr val="2A2A2A"/>
                </a:solidFill>
              </a:defRPr>
            </a:pPr>
            <a:r>
              <a:t>Cód 3906013: Prototipos industriales/tecnológicos.</a:t>
            </a:r>
          </a:p>
          <a:p>
            <a:pPr>
              <a:spcAft>
                <a:spcPts val="600"/>
              </a:spcAft>
              <a:defRPr sz="16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2A2A2A"/>
                </a:solidFill>
              </a:defRPr>
            </a:pPr>
            <a:r>
              <a:t>Uso y Transferencia:</a:t>
            </a:r>
          </a:p>
          <a:p>
            <a:pPr lvl="1">
              <a:spcAft>
                <a:spcPts val="600"/>
              </a:spcAft>
              <a:defRPr sz="1600">
                <a:solidFill>
                  <a:srgbClr val="2A2A2A"/>
                </a:solidFill>
              </a:defRPr>
            </a:pPr>
            <a:r>
              <a:t>Cód 3906009: Apoyo financiero a programas CTI.</a:t>
            </a:r>
          </a:p>
          <a:p>
            <a:pPr lvl="1">
              <a:spcAft>
                <a:spcPts val="600"/>
              </a:spcAft>
              <a:defRPr sz="1600">
                <a:solidFill>
                  <a:srgbClr val="2A2A2A"/>
                </a:solidFill>
              </a:defRPr>
            </a:pPr>
            <a:r>
              <a:t>Cód 3906014: Servicios de asistencia técnica.</a:t>
            </a:r>
          </a:p>
          <a:p>
            <a:pPr>
              <a:spcAft>
                <a:spcPts val="600"/>
              </a:spcAft>
              <a:defRPr sz="16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2A2A2A"/>
                </a:solidFill>
              </a:defRPr>
            </a:pPr>
            <a:r>
              <a:t>Apropiación Social:</a:t>
            </a:r>
          </a:p>
          <a:p>
            <a:pPr lvl="1">
              <a:spcAft>
                <a:spcPts val="600"/>
              </a:spcAft>
              <a:defRPr sz="1600">
                <a:solidFill>
                  <a:srgbClr val="2A2A2A"/>
                </a:solidFill>
              </a:defRPr>
            </a:pPr>
            <a:r>
              <a:t>Cód 3906016: Documentos de política pública.</a:t>
            </a:r>
          </a:p>
          <a:p>
            <a:pPr lvl="1">
              <a:spcAft>
                <a:spcPts val="600"/>
              </a:spcAft>
              <a:defRPr sz="1600">
                <a:solidFill>
                  <a:srgbClr val="2A2A2A"/>
                </a:solidFill>
              </a:defRPr>
            </a:pPr>
            <a:r>
              <a:t>Cód 3906015: Documentos de planeación estratégica.</a:t>
            </a:r>
          </a:p>
          <a:p>
            <a:pPr>
              <a:spcAft>
                <a:spcPts val="600"/>
              </a:spcAft>
              <a:defRPr sz="16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2A2A2A"/>
                </a:solidFill>
              </a:defRPr>
            </a:pPr>
            <a:r>
              <a:t>Infraestructura:</a:t>
            </a:r>
          </a:p>
          <a:p>
            <a:pPr lvl="1">
              <a:spcAft>
                <a:spcPts val="600"/>
              </a:spcAft>
              <a:defRPr sz="1600">
                <a:solidFill>
                  <a:srgbClr val="2A2A2A"/>
                </a:solidFill>
              </a:defRPr>
            </a:pPr>
            <a:r>
              <a:t>Cód 3906018/020/021: Infraestructura construida, dotada y adecuada.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8. CONSIDERACIONES TÉCNICAS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260000"/>
            <a:ext cx="8064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Aspectos Técnicos: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Escalabilidad y diseño modular.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Soporte específico a cargas de trabajo de IA.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Confiabilidad y durabilidad mínima de 10 años.</a:t>
            </a: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Estándares y Normatividad: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Cumplimiento del estándar Tier III (Disponibilidad).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Eficiencia energética y sostenibilidad ambiental.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Ciberseguridad y alta disponibilidad.</a:t>
            </a: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Requisito General: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Alcance nacional e integralidad de la solución.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9. ENFOQUES TERRITORIAL Y DIFERENCIAL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260000"/>
            <a:ext cx="8064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900" b="1">
                <a:solidFill>
                  <a:srgbClr val="2A2A2A"/>
                </a:solidFill>
              </a:defRPr>
            </a:pPr>
            <a:r>
              <a:t>Enfoque Territorial (Puntaje Adicional):</a:t>
            </a:r>
          </a:p>
          <a:p>
            <a:pPr lvl="1">
              <a:spcAft>
                <a:spcPts val="600"/>
              </a:spcAft>
              <a:defRPr sz="1900">
                <a:solidFill>
                  <a:srgbClr val="2A2A2A"/>
                </a:solidFill>
              </a:defRPr>
            </a:pPr>
            <a:r>
              <a:t>Priorización de proyectos ejecutados fuera de los grandes centros:</a:t>
            </a:r>
          </a:p>
          <a:p>
            <a:pPr lvl="2">
              <a:spcAft>
                <a:spcPts val="600"/>
              </a:spcAft>
              <a:defRPr sz="1900">
                <a:solidFill>
                  <a:srgbClr val="2A2A2A"/>
                </a:solidFill>
              </a:defRPr>
            </a:pPr>
            <a:r>
              <a:t>- Bogotá / Cundinamarca</a:t>
            </a:r>
          </a:p>
          <a:p>
            <a:pPr lvl="2">
              <a:spcAft>
                <a:spcPts val="600"/>
              </a:spcAft>
              <a:defRPr sz="1900">
                <a:solidFill>
                  <a:srgbClr val="2A2A2A"/>
                </a:solidFill>
              </a:defRPr>
            </a:pPr>
            <a:r>
              <a:t>- Antioquia</a:t>
            </a:r>
          </a:p>
          <a:p>
            <a:pPr lvl="2">
              <a:spcAft>
                <a:spcPts val="600"/>
              </a:spcAft>
              <a:defRPr sz="1900">
                <a:solidFill>
                  <a:srgbClr val="2A2A2A"/>
                </a:solidFill>
              </a:defRPr>
            </a:pPr>
            <a:r>
              <a:t>- Valle del Cauca</a:t>
            </a:r>
          </a:p>
          <a:p>
            <a:pPr lvl="2">
              <a:spcAft>
                <a:spcPts val="600"/>
              </a:spcAft>
              <a:defRPr sz="1900">
                <a:solidFill>
                  <a:srgbClr val="2A2A2A"/>
                </a:solidFill>
              </a:defRPr>
            </a:pPr>
            <a:r>
              <a:t>- Atlántico</a:t>
            </a:r>
          </a:p>
          <a:p>
            <a:pPr>
              <a:spcAft>
                <a:spcPts val="600"/>
              </a:spcAft>
              <a:defRPr sz="19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1900" b="1">
                <a:solidFill>
                  <a:srgbClr val="2A2A2A"/>
                </a:solidFill>
              </a:defRPr>
            </a:pPr>
            <a:r>
              <a:t>Enfoque Diferencial (Inclusión Social):</a:t>
            </a:r>
          </a:p>
          <a:p>
            <a:pPr lvl="1">
              <a:spcAft>
                <a:spcPts val="600"/>
              </a:spcAft>
              <a:defRPr sz="1900">
                <a:solidFill>
                  <a:srgbClr val="2A2A2A"/>
                </a:solidFill>
              </a:defRPr>
            </a:pPr>
            <a:r>
              <a:t>Inclusión explícita de:</a:t>
            </a:r>
          </a:p>
          <a:p>
            <a:pPr lvl="2">
              <a:spcAft>
                <a:spcPts val="600"/>
              </a:spcAft>
              <a:defRPr sz="1900">
                <a:solidFill>
                  <a:srgbClr val="2A2A2A"/>
                </a:solidFill>
              </a:defRPr>
            </a:pPr>
            <a:r>
              <a:t>- Población víctima del conflicto armado.</a:t>
            </a:r>
          </a:p>
          <a:p>
            <a:pPr lvl="2">
              <a:spcAft>
                <a:spcPts val="600"/>
              </a:spcAft>
              <a:defRPr sz="1900">
                <a:solidFill>
                  <a:srgbClr val="2A2A2A"/>
                </a:solidFill>
              </a:defRPr>
            </a:pPr>
            <a:r>
              <a:t>- Personas con discapacidad.</a:t>
            </a:r>
          </a:p>
          <a:p>
            <a:pPr lvl="2">
              <a:spcAft>
                <a:spcPts val="600"/>
              </a:spcAft>
              <a:defRPr sz="1900">
                <a:solidFill>
                  <a:srgbClr val="2A2A2A"/>
                </a:solidFill>
              </a:defRPr>
            </a:pPr>
            <a:r>
              <a:t>- Grupos étnicos.</a:t>
            </a:r>
          </a:p>
          <a:p>
            <a:pPr lvl="2">
              <a:spcAft>
                <a:spcPts val="600"/>
              </a:spcAft>
              <a:defRPr sz="1900">
                <a:solidFill>
                  <a:srgbClr val="2A2A2A"/>
                </a:solidFill>
              </a:defRPr>
            </a:pPr>
            <a:r>
              <a:t>- Mujeres (Paridad de género).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10. VINCULACIÓN DE TALENTO HUMANO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260000"/>
            <a:ext cx="8064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  <a:r>
              <a:t>Equipo Mínimo Obligatorio a Financiar:</a:t>
            </a: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  <a:r>
              <a:t>1. Nivel Postdoctoral: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Mínimo 1 Estancia posdoctoral.</a:t>
            </a: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  <a:r>
              <a:t>2. Nivel Maestría: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Mínimo 2 Estudiantes de maestría vinculados.</a:t>
            </a: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  <a:r>
              <a:t>3. Jóvenes Investigadores: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Total: 6 Jóvenes.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Distribución: 3 de pregrado + 3 profesionales.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11. REQUISITOS DOCUMENTALES (RESUMEN)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260000"/>
            <a:ext cx="8064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1. Inscripción en plataforma SIGP.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2. Verificación de requisitos 'Dirigido a'.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3. Certificado de adecuado desempeño (DNP).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4. Carta de Aval y Modelo de Gobernanza.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5. Documento técnico completo.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6. Presupuesto detallado.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7. Proyecto cargado en MGA (borrador).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8. Certificados de contrapartida.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9. Cartas de participación de aliados.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10. Soportes de experiencia (5 proyectos).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11. Aval Comité de Ética (si aplica).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12. Acreditación de Alta Calidad IES.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13. Resolución de reconocimiento de Centros.</a:t>
            </a:r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</a:defRPr>
            </a:pPr>
            <a:r>
              <a:t>14-17. Documentos legales y atención a demandas.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12. DURACIÓN Y FINANCIACIÓN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260000"/>
            <a:ext cx="8064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  <a:r>
              <a:t>Duración del Proyecto: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Plazo de ejecución: Hasta 48 meses.</a:t>
            </a: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  <a:r>
              <a:t>Recursos Disponibles: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Fuente: Sistema General de Regalías (Asignación CTI).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Monto Total de la Convocatoria: $630.000.000.000 COP.</a:t>
            </a: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A2A2A"/>
                </a:solidFill>
              </a:defRPr>
            </a:pPr>
            <a:r>
              <a:t>Expectativa de Adjudicación:</a:t>
            </a:r>
          </a:p>
          <a:p>
            <a:pPr lvl="1">
              <a:spcAft>
                <a:spcPts val="600"/>
              </a:spcAft>
              <a:defRPr sz="2000">
                <a:solidFill>
                  <a:srgbClr val="2A2A2A"/>
                </a:solidFill>
              </a:defRPr>
            </a:pPr>
            <a:r>
              <a:t>Se espera financiar UN (1) único proyecto de alcance nacional.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13. MAPA DE RIESGOS: CRÍTICOS 🔴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440000"/>
          <a:ext cx="990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3240000"/>
                <a:gridCol w="1800000"/>
                <a:gridCol w="432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Riesgo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Estrategia Mitigación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Inexperiencia Proyectos SGR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Institucional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Apoyo UNAL, talleres constantes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Inexperiencia GESPROY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Administrativo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Capacitación, equipo mixto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Capacidad Admin. Insuficiente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Financiero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Unidad mixta de gestión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Restricción Nómina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Financiero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Contratación por producto/servicio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Personal no certificado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Gobernanza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Personal certificado SGR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Dependencia Proveedores Int.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Externo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Diversificar proveedores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Brechas Ciberseguridad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Técnico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ISO 27001, auditorías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Débil Gobernanza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Estratégico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</a:defRPr>
                      </a:pPr>
                      <a:r>
                        <a:t>Modelo tripartito formal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1007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0"/>
            <a:ext cx="8712000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0"/>
            <a:ext cx="7272000" cy="1007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13. MAPA DE RIESGOS: ALTOS Y MODERADOS</a:t>
            </a:r>
          </a:p>
        </p:txBody>
      </p:sp>
      <p:pic>
        <p:nvPicPr>
          <p:cNvPr id="5" name="Picture 4" descr="Cotecmar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00" y="144000"/>
            <a:ext cx="1440000" cy="14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260000"/>
            <a:ext cx="8064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Riesgos Altos 🟡 (8 riesgos):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Financiación supervisor/interventor.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Sobrecostos en implementación tecnológica.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Falta de articulación entre aliados.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Fallas en sostenibilidad post-ejecución.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Riesgos reputacionales y de control fiscal.</a:t>
            </a: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Riesgos Moderados 🟢 (1 riesgo):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Falta de alineación con estándares internacionales de IA ética.</a:t>
            </a: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A2A2A"/>
                </a:solidFill>
              </a:defRPr>
            </a:pPr>
            <a:r>
              <a:t>Distribución Porcentual:</a:t>
            </a:r>
          </a:p>
          <a:p>
            <a:pPr lvl="1">
              <a:spcAft>
                <a:spcPts val="600"/>
              </a:spcAft>
              <a:defRPr sz="1800">
                <a:solidFill>
                  <a:srgbClr val="2A2A2A"/>
                </a:solidFill>
              </a:defRPr>
            </a:pPr>
            <a:r>
              <a:t>Críticos: 47% | Altos: 47% | Moderados: 6%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